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Confiabilidad</c:v>
                </c:pt>
              </c:strCache>
            </c:strRef>
          </c:tx>
          <c:spPr>
            <a:solidFill>
              <a:srgbClr val="5F7A26"/>
            </a:solidFill>
          </c:spPr>
          <c:cat>
            <c:strRef>
              <c:f>Sheet1!$A$2:$A$5</c:f>
              <c:strCache>
                <c:ptCount val="4"/>
                <c:pt idx="0">
                  <c:v>Julio</c:v>
                </c:pt>
                <c:pt idx="1">
                  <c:v>24-ago</c:v>
                </c:pt>
                <c:pt idx="2">
                  <c:v>31-ago</c:v>
                </c:pt>
                <c:pt idx="3">
                  <c:v>14-sep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98.88</c:v>
                </c:pt>
                <c:pt idx="1">
                  <c:v>98.19</c:v>
                </c:pt>
                <c:pt idx="2">
                  <c:v>99.73</c:v>
                </c:pt>
                <c:pt idx="3">
                  <c:v>95.0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 b="1">
                  <a:solidFill>
                    <a:srgbClr val="2B2420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3DF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9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6B6560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Proyectos</c:v>
                </c:pt>
              </c:strCache>
            </c:strRef>
          </c:tx>
          <c:spPr>
            <a:solidFill>
              <a:srgbClr val="5F7A26"/>
            </a:solidFill>
          </c:spPr>
          <c:dPt>
            <c:idx val="2"/>
            <c:spPr>
              <a:solidFill>
                <a:srgbClr val="9CB254"/>
              </a:solidFill>
            </c:spPr>
          </c:dPt>
          <c:dPt>
            <c:idx val="3"/>
            <c:spPr>
              <a:solidFill>
                <a:srgbClr val="9CB254"/>
              </a:solidFill>
            </c:spPr>
          </c:dPt>
          <c:dPt>
            <c:idx val="4"/>
            <c:spPr>
              <a:solidFill>
                <a:srgbClr val="9CB254"/>
              </a:solidFill>
            </c:spPr>
          </c:dPt>
          <c:dPt>
            <c:idx val="5"/>
            <c:spPr>
              <a:solidFill>
                <a:srgbClr val="9CB254"/>
              </a:solidFill>
            </c:spPr>
          </c:dPt>
          <c:cat>
            <c:strRef>
              <c:f>Sheet1!$A$2:$A$7</c:f>
              <c:strCache>
                <c:ptCount val="6"/>
                <c:pt idx="0">
                  <c:v>Jul</c:v>
                </c:pt>
                <c:pt idx="1">
                  <c:v>Ago</c:v>
                </c:pt>
                <c:pt idx="2">
                  <c:v>Sep</c:v>
                </c:pt>
                <c:pt idx="3">
                  <c:v>Oct</c:v>
                </c:pt>
                <c:pt idx="4">
                  <c:v>Nov</c:v>
                </c:pt>
                <c:pt idx="5">
                  <c:v>Dic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6</c:v>
                </c:pt>
                <c:pt idx="2">
                  <c:v>10</c:v>
                </c:pt>
                <c:pt idx="3">
                  <c:v>12</c:v>
                </c:pt>
                <c:pt idx="4">
                  <c:v>12</c:v>
                </c:pt>
                <c:pt idx="5">
                  <c:v>13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 b="1">
                  <a:solidFill>
                    <a:srgbClr val="2B2420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3D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6B6560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Proyectos</c:v>
                </c:pt>
              </c:strCache>
            </c:strRef>
          </c:tx>
          <c:spPr>
            <a:solidFill>
              <a:srgbClr val="5F7A26"/>
            </a:solidFill>
          </c:spPr>
          <c:cat>
            <c:strRef>
              <c:f>Sheet1!$A$2:$A$6</c:f>
              <c:strCache>
                <c:ptCount val="5"/>
                <c:pt idx="0">
                  <c:v>Cobrado</c:v>
                </c:pt>
                <c:pt idx="1">
                  <c:v>Factura emitida</c:v>
                </c:pt>
                <c:pt idx="2">
                  <c:v>PO recibida</c:v>
                </c:pt>
                <c:pt idx="3">
                  <c:v>Cierre de bodega</c:v>
                </c:pt>
                <c:pt idx="4">
                  <c:v>Cierre entregado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3</c:v>
                </c:pt>
                <c:pt idx="4">
                  <c:v>5</c:v>
                </c:pt>
              </c:numCache>
            </c:numRef>
          </c:val>
        </c:ser>
        <c:dLbls>
          <c:numFmt formatCode="0&quot; de 5&quot;" sourceLinked="0"/>
          <c:txPr>
            <a:bodyPr/>
            <a:lstStyle/>
            <a:p>
              <a:pPr>
                <a:defRPr sz="1100" b="1">
                  <a:solidFill>
                    <a:srgbClr val="2B24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3D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6B6560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Promedio</c:v>
                </c:pt>
              </c:strCache>
            </c:strRef>
          </c:tx>
          <c:spPr>
            <a:solidFill>
              <a:srgbClr val="5F7A26"/>
            </a:solidFill>
          </c:spPr>
          <c:cat>
            <c:strRef>
              <c:f>Sheet1!$A$2:$A$4</c:f>
              <c:strCache>
                <c:ptCount val="3"/>
                <c:pt idx="0">
                  <c:v>Bodega</c:v>
                </c:pt>
                <c:pt idx="1">
                  <c:v>Transporte</c:v>
                </c:pt>
                <c:pt idx="2">
                  <c:v>Welcome Bags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8.7</c:v>
                </c:pt>
                <c:pt idx="1">
                  <c:v>8.2</c:v>
                </c:pt>
                <c:pt idx="2">
                  <c:v>8.2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300" b="1">
                  <a:solidFill>
                    <a:srgbClr val="2B24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3D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6B6560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Fuentes del reporte: minutas de Tactiq (juntas semanales de coordinadores del 3-ago al 14-sep, seguimiento de transporte, Clarium Finanzas, Plan de Acción TLO, demos Odoo), reporte y tablero de operación del 20-sep, BDD NPS V2, Tablero Analítico de Transportación y correos de agosto-septiembre.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Estado ámbar tomado del Reporte de operación para Dirección del 20-sep. KPIs: confiabilidad 99.73% (junta 31-ago), papelería críticos 77%→96% y global 53%→67% (junta 14-sep), Edenred 3.49%→1% (Clarium 4-sep), ahorro $26,178 (junta 14-sep).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Fechas tomadas de las minutas de Tactiq, el cronograma de cabinas y los correos de septiembre.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Datos: juntas semanales 3-ago, 24-ago, 31-ago y 14-sep; seguimiento de transporte 6-ago y 24-ago; Clarium 4-sep; reporte a Dirección 20-sep.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Fuentes: reporte a Dirección 20-sep, revisión de Transpo Request 4-sep, juntas 7-sep y 14-sep, seguimiento transporte 24-ago.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Confiabilidad: 98.88% julio (junta 3-ago), 98.19% (24-ago), 99.73% (31-ago), 95% con conteos al 21-sep (14-sep). Operación semanal de las juntas 31-ago y 14-sep. Tarimas en cero: visita LA 20-ago.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Fuentes: juntas 24-ago y 31-ago (ahorro 17%, ROI 4.17%, montacargas, Delta Pro), junta 3-ago (carpas, gasto 84.19%), junta 14-sep (evaluación 90-92%, gasto 80.23%), Otniel/Gerardo 22-sep, subarrendos 19-ago, visita LA 20-ago.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Avance de Nuevos Artículos WB (20-ago), junta 24-ago, reporte a Dirección 20-sep. El rango de kits mensuales es un cálculo: 12-13 proyectos x 11-15 kits.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Embudo y tabla tomados del Reporte de operación para Dirección del 20-sep. Plazo de 60 días: contrato TLO. Fondeo Delif: junta 14-sep.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Fuentes: presentación Plan de Acción Operativo TLO, junta TLO-CINEMA 23-sep, GMR:CINEMA 24-sep, correo GMR Horas extras 23-24 sep, junta 14-sep.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Fuentes: Tablero Analítico Transportación (log 6-sep), seguimiento transporte 6-ago, revisión Transpo Request 4-sep, ERP_00_INDICE (20-sep), correo Prueba de reporte (22-sep), demos Odoo 15 y 21-sep.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Cinema Shuttle NPS V2 (hoja Consolidado y Respuestas) y juntas 31-ago y 14-sep. La meta del 30% es una propuesta, no un acuerdo.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Síntesis del bimestre. Las propuestas son recomendaciones de Operaciones para discutir con Tania.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Fuentes: tablero de operación 20-sep, Otniel/Gerardo 22-sep, cotización podcast (30-sep), Odoo 21-sep, WB 20-ago, Clarium 4-sep, junta 7-sep.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Decisiones 1, 3, 4 y 5 vienen del reporte a Dirección del 20-sep. 2: GMR 24-sep y correo de horas extra. 6: Odoo 21-sep. 7: Otniel/Gerardo 22-sep. 8: WB 20-ago.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09728"/>
            <a:ext cx="4053535" cy="674827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697480"/>
            <a:ext cx="2880360" cy="1144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914400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5F7A26"/>
                </a:solidFill>
                <a:latin typeface="Montserrat"/>
              </a:rPr>
              <a:t>INFORME PARA DIRECCIÓN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7132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F140F"/>
                </a:solidFill>
                <a:latin typeface="Montserrat"/>
              </a:rPr>
              <a:t>Reporte de</a:t>
            </a:r>
          </a:p>
          <a:p>
            <a:pPr algn="l">
              <a:lnSpc>
                <a:spcPct val="100000"/>
              </a:lnSpc>
            </a:pPr>
            <a:r>
              <a:rPr sz="4600" b="1">
                <a:solidFill>
                  <a:srgbClr val="1F140F"/>
                </a:solidFill>
                <a:latin typeface="Montserrat"/>
              </a:rPr>
              <a:t>Operaciones</a:t>
            </a:r>
          </a:p>
          <a:p>
            <a:pPr algn="l">
              <a:lnSpc>
                <a:spcPct val="100000"/>
              </a:lnSpc>
            </a:pPr>
            <a:r>
              <a:rPr sz="3000" b="0">
                <a:solidFill>
                  <a:srgbClr val="5F7A26"/>
                </a:solidFill>
                <a:latin typeface="Montserrat"/>
              </a:rPr>
              <a:t>Agosto – Septiembre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69080"/>
            <a:ext cx="7132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560"/>
                </a:solidFill>
                <a:latin typeface="Montserrat"/>
              </a:rPr>
              <a:t>Transporte  ·  Bodega e Inventarios  ·  Compras  ·  Welcome Bags  ·  Administración y Sistemas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983480"/>
            <a:ext cx="822960" cy="45720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7132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560"/>
                </a:solidFill>
                <a:latin typeface="Montserrat"/>
              </a:rPr>
              <a:t>Para: </a:t>
            </a:r>
            <a:r>
              <a:rPr sz="1400" b="1">
                <a:solidFill>
                  <a:srgbClr val="1F140F"/>
                </a:solidFill>
                <a:latin typeface="Montserrat"/>
              </a:rPr>
              <a:t>Tania Pérez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560"/>
                </a:solidFill>
                <a:latin typeface="Montserrat"/>
              </a:rPr>
              <a:t>Presenta: </a:t>
            </a:r>
            <a:r>
              <a:rPr sz="1400" b="1">
                <a:solidFill>
                  <a:srgbClr val="1F140F"/>
                </a:solidFill>
                <a:latin typeface="Montserrat"/>
              </a:rPr>
              <a:t>Gerardo Herrera · Gerente de Operaciones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560"/>
                </a:solidFill>
                <a:latin typeface="Montserrat"/>
              </a:rPr>
              <a:t>Corte de información: 25 de septiembre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RESUMEN EJECUTIVO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F140F"/>
                </a:solidFill>
                <a:latin typeface="Montserrat"/>
              </a:rPr>
              <a:t>Dos meses de orden y control antes de la temporada alta</a:t>
            </a:r>
          </a:p>
        </p:txBody>
      </p:sp>
      <p:pic>
        <p:nvPicPr>
          <p:cNvPr id="5" name="Picture 4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828477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1328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Reporte de Operaciones  ·  Agosto – Septiembre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77272" y="365760"/>
            <a:ext cx="1463040" cy="292608"/>
          </a:xfrm>
          <a:prstGeom prst="round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ESTADO: ÁMBAR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2679192" cy="1737360"/>
          </a:xfrm>
          <a:prstGeom prst="rect">
            <a:avLst/>
          </a:prstGeom>
          <a:solidFill>
            <a:srgbClr val="2B2420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00200"/>
            <a:ext cx="2313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9CB254"/>
                </a:solidFill>
                <a:latin typeface="Montserrat"/>
              </a:rPr>
              <a:t>99.73%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240280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4F4F2"/>
                </a:solidFill>
                <a:latin typeface="Montserrat"/>
              </a:rPr>
              <a:t>Confiabilidad de inventario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743200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C9C4BF"/>
                </a:solidFill>
                <a:latin typeface="Montserrat"/>
              </a:rPr>
              <a:t>Cierre de agosto (98.88% en julio)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46704" y="1417320"/>
            <a:ext cx="267919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600200"/>
            <a:ext cx="2313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140F"/>
                </a:solidFill>
                <a:latin typeface="Montserrat"/>
              </a:rPr>
              <a:t>96%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2240280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B2420"/>
                </a:solidFill>
                <a:latin typeface="Montserrat"/>
              </a:rPr>
              <a:t>Papelería de proveedores críticos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2743200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6560"/>
                </a:solidFill>
                <a:latin typeface="Montserrat"/>
              </a:rPr>
              <a:t>Desde 77%; global de 53% a 67%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1417320"/>
            <a:ext cx="267919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600200"/>
            <a:ext cx="2313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140F"/>
                </a:solidFill>
                <a:latin typeface="Montserrat"/>
              </a:rPr>
              <a:t>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240280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B2420"/>
                </a:solidFill>
                <a:latin typeface="Montserrat"/>
              </a:rPr>
              <a:t>Comisión Edenred (antes 3.49%)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743200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6560"/>
                </a:solidFill>
                <a:latin typeface="Montserrat"/>
              </a:rPr>
              <a:t>El diferencial queda como fee de Cinema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42832" y="1417320"/>
            <a:ext cx="267919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1600200"/>
            <a:ext cx="2313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140F"/>
                </a:solidFill>
                <a:latin typeface="Montserrat"/>
              </a:rPr>
              <a:t>$26,178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240280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B2420"/>
                </a:solidFill>
                <a:latin typeface="Montserrat"/>
              </a:rPr>
              <a:t>Ahorro negociado en transporte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743200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6560"/>
                </a:solidFill>
                <a:latin typeface="Montserrat"/>
              </a:rPr>
              <a:t>Intuit y SquareSpace (septiembre)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37560"/>
            <a:ext cx="54406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5204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5F7A26"/>
                </a:solidFill>
                <a:latin typeface="Montserrat"/>
              </a:rPr>
              <a:t>Lo que salió bien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31336"/>
            <a:ext cx="457200" cy="36576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023360"/>
            <a:ext cx="50292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Contrato TLO UK – Cinema firmado (31-ago) </a:t>
            </a:r>
            <a:r>
              <a:rPr sz="1200" b="0">
                <a:solidFill>
                  <a:srgbClr val="2B2420"/>
                </a:solidFill>
                <a:latin typeface="Montserrat"/>
              </a:rPr>
              <a:t>y plan de acción operativo presentado (23-sep).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Transporte con coordinación formal: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Xochitlalli desde el 15-sep; fee de transfers aprobado.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Bodega: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0 artículos sin entregar, 100% entregas de bodega y welcome bags en agosto.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Datos: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90 transpo requests consolidados en un tablero, machote maestro y reporte a Dirección.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3337560"/>
            <a:ext cx="5468112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5204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3261E"/>
                </a:solidFill>
                <a:latin typeface="Montserrat"/>
              </a:rPr>
              <a:t>Lo que nos preocupa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831336"/>
            <a:ext cx="457200" cy="36576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023360"/>
            <a:ext cx="50749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Cobranza: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de 5 proyectos en cierre, 1 facturado y 0 cobrados; Tom Kuntz y Verovision esperan PO de TLO.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Legal/fiscal: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GMR con REPSE de vigilancia haciendo intendencia; horas extra sin esquema de pago.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Flujo: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fondeo de Delif terminó el 15-sep; CapEx suspendido.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Infraestructura: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goteras en bodega desde junio; Suburban L84BSG parada más de 30 días.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LÍNEA DE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F140F"/>
                </a:solidFill>
                <a:latin typeface="Montserrat"/>
              </a:rPr>
              <a:t>Hitos del bimestre</a:t>
            </a:r>
          </a:p>
        </p:txBody>
      </p:sp>
      <p:pic>
        <p:nvPicPr>
          <p:cNvPr id="5" name="Picture 4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828477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1328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Reporte de Operaciones  ·  Agosto – Septiembre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5F7A26"/>
                </a:solidFill>
                <a:latin typeface="Montserrat"/>
              </a:rPr>
              <a:t>AGOSTO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" y="1828800"/>
            <a:ext cx="27432" cy="4343400"/>
          </a:xfrm>
          <a:prstGeom prst="rect">
            <a:avLst/>
          </a:prstGeom>
          <a:solidFill>
            <a:srgbClr val="E3E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8640" y="1874520"/>
            <a:ext cx="155448" cy="15544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2880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F140F"/>
                </a:solidFill>
                <a:latin typeface="Montserrat"/>
              </a:rPr>
              <a:t>03-ago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182880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Revisión de julio; operación Cozumel (Carnival) con proveedor local y taxis del sindicato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06040"/>
            <a:ext cx="155448" cy="15544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603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F140F"/>
                </a:solidFill>
                <a:latin typeface="Montserrat"/>
              </a:rPr>
              <a:t>06-ago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56032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Arranca depuración del catálogo de proveedores de transporte (~80 duplicados)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337560"/>
            <a:ext cx="155448" cy="15544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9184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F140F"/>
                </a:solidFill>
                <a:latin typeface="Montserrat"/>
              </a:rPr>
              <a:t>19-ago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329184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Se cierra el proyecto de subarrendos: hay oferta, pero no demanda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069080"/>
            <a:ext cx="155448" cy="15544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02336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F140F"/>
                </a:solidFill>
                <a:latin typeface="Montserrat"/>
              </a:rPr>
              <a:t>20-ago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Visita de mejora continua en LA (carpas, carritos, tarimas) y nuevos artículos WB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4800600"/>
            <a:ext cx="155448" cy="15544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75488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F140F"/>
                </a:solidFill>
                <a:latin typeface="Montserrat"/>
              </a:rPr>
              <a:t>21-ago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75488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Programa de capacitación y certificación de drivers v2.0 (5 días)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5532120"/>
            <a:ext cx="155448" cy="15544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8640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F140F"/>
                </a:solidFill>
                <a:latin typeface="Montserrat"/>
              </a:rPr>
              <a:t>31-ago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548640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Firma del contrato intercompañía TLO UK – Cinema Shuttle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141732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5F7A26"/>
                </a:solidFill>
                <a:latin typeface="Montserrat"/>
              </a:rPr>
              <a:t>SEPTIEMBRE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81928" y="1828800"/>
            <a:ext cx="27432" cy="4343400"/>
          </a:xfrm>
          <a:prstGeom prst="rect">
            <a:avLst/>
          </a:prstGeom>
          <a:solidFill>
            <a:srgbClr val="E3E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17920" y="1874520"/>
            <a:ext cx="155448" cy="15544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182880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F140F"/>
                </a:solidFill>
                <a:latin typeface="Montserrat"/>
              </a:rPr>
              <a:t>01–08 sep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82880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Llegada e instalación de las 2 cabinas nuevas</a:t>
            </a:r>
          </a:p>
        </p:txBody>
      </p:sp>
      <p:sp>
        <p:nvSpPr>
          <p:cNvPr id="33" name="Oval 32"/>
          <p:cNvSpPr/>
          <p:nvPr/>
        </p:nvSpPr>
        <p:spPr>
          <a:xfrm>
            <a:off x="6217920" y="2606040"/>
            <a:ext cx="155448" cy="15544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25603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F140F"/>
                </a:solidFill>
                <a:latin typeface="Montserrat"/>
              </a:rPr>
              <a:t>04-sep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256032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Comisión Edenred baja a 1%; se define fee de gestión de combustible</a:t>
            </a:r>
          </a:p>
        </p:txBody>
      </p:sp>
      <p:sp>
        <p:nvSpPr>
          <p:cNvPr id="36" name="Oval 35"/>
          <p:cNvSpPr/>
          <p:nvPr/>
        </p:nvSpPr>
        <p:spPr>
          <a:xfrm>
            <a:off x="6217920" y="3337560"/>
            <a:ext cx="155448" cy="15544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329184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F140F"/>
                </a:solidFill>
                <a:latin typeface="Montserrat"/>
              </a:rPr>
              <a:t>07-sep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329184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Machote maestro de solicitud de transporte y tablero analítico (72,924 filas)</a:t>
            </a:r>
          </a:p>
        </p:txBody>
      </p:sp>
      <p:sp>
        <p:nvSpPr>
          <p:cNvPr id="39" name="Oval 38"/>
          <p:cNvSpPr/>
          <p:nvPr/>
        </p:nvSpPr>
        <p:spPr>
          <a:xfrm>
            <a:off x="6217920" y="4069080"/>
            <a:ext cx="155448" cy="15544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7960" y="402336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F140F"/>
                </a:solidFill>
                <a:latin typeface="Montserrat"/>
              </a:rPr>
              <a:t>15-sep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40" y="40233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Xochitlalli asume la coordinación de transporte; demo 1 de Odoo</a:t>
            </a:r>
          </a:p>
        </p:txBody>
      </p:sp>
      <p:sp>
        <p:nvSpPr>
          <p:cNvPr id="42" name="Oval 41"/>
          <p:cNvSpPr/>
          <p:nvPr/>
        </p:nvSpPr>
        <p:spPr>
          <a:xfrm>
            <a:off x="6217920" y="4800600"/>
            <a:ext cx="155448" cy="15544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475488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F140F"/>
                </a:solidFill>
                <a:latin typeface="Montserrat"/>
              </a:rPr>
              <a:t>17-sep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35240" y="475488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The Lift aprueba el fee de transfers (aplica desde el próximo award)</a:t>
            </a:r>
          </a:p>
        </p:txBody>
      </p:sp>
      <p:sp>
        <p:nvSpPr>
          <p:cNvPr id="45" name="Oval 44"/>
          <p:cNvSpPr/>
          <p:nvPr/>
        </p:nvSpPr>
        <p:spPr>
          <a:xfrm>
            <a:off x="6217920" y="5532120"/>
            <a:ext cx="155448" cy="15544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548640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F140F"/>
                </a:solidFill>
                <a:latin typeface="Montserrat"/>
              </a:rPr>
              <a:t>21–23 sep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548640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Demo 2 de Odoo y cotización; plan de acción del contrato TLO con todo el equipo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TRANSPORTE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F140F"/>
                </a:solidFill>
                <a:latin typeface="Montserrat"/>
              </a:rPr>
              <a:t>Transporte: más control de proveedores y costos</a:t>
            </a:r>
          </a:p>
        </p:txBody>
      </p:sp>
      <p:pic>
        <p:nvPicPr>
          <p:cNvPr id="5" name="Picture 4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828477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1328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Reporte de Operaciones  ·  Agosto – Septiembre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F140F"/>
                </a:solidFill>
                <a:latin typeface="Montserrat"/>
              </a:rPr>
              <a:t>Lo que hicimos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28216"/>
            <a:ext cx="457200" cy="36576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Coordinación formal: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Xochitlalli coordina desde el 15-sep con Brenda, Samanta y Ana Paula.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Tarifas: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no se aceptan tarifas fuera del tabulador; fee de transfers por hora aprobado por The Lift.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Combustible: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Edenred de 3.49% a 1%; saldos por tarjeta y proyecto automatizados en Sheets; tarjetas Clara para la flota propia.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Catálogo de unidades: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duplicados eliminados, estatus por unidad (activo, subarrendado, rechazado) y frecuencia de uso.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Herramientas: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machote maestro de solicitud, tablero analítico de 90 requests y criterio foráneo (61 km o más, ida y vuelta).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Proyectos complejos: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Cozumel resuelto con proveedor local; SquareSpace y Museo Kaluz cerrados con descuentos y penalizaciones a proveedores.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Drivers: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programa de capacitación v2.0 y 2 choferes propios en incorporación.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463040"/>
          <a:ext cx="537667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6352"/>
                <a:gridCol w="1280160"/>
                <a:gridCol w="12801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4F4F2"/>
                          </a:solidFill>
                          <a:latin typeface="Montserrat"/>
                        </a:rPr>
                        <a:t>Indicador</a:t>
                      </a:r>
                    </a:p>
                  </a:txBody>
                  <a:tcPr marL="91440" marR="91440" marT="36576" marB="36576" anchor="ctr">
                    <a:solidFill>
                      <a:srgbClr val="2B24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4F4F2"/>
                          </a:solidFill>
                          <a:latin typeface="Montserrat"/>
                        </a:rPr>
                        <a:t>Agosto</a:t>
                      </a:r>
                    </a:p>
                  </a:txBody>
                  <a:tcPr marL="91440" marR="91440" marT="36576" marB="36576" anchor="ctr">
                    <a:solidFill>
                      <a:srgbClr val="2B24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4F4F2"/>
                          </a:solidFill>
                          <a:latin typeface="Montserrat"/>
                        </a:rPr>
                        <a:t>Septiembre</a:t>
                      </a:r>
                    </a:p>
                  </a:txBody>
                  <a:tcPr marL="91440" marR="91440" marT="36576" marB="36576" anchor="ctr">
                    <a:solidFill>
                      <a:srgbClr val="2B24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Unidades asignadas correctamente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98%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96.6%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Papelería proveedores críticos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70–81%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96%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Papelería proveedores (global)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50–53%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67%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Comisión Edenred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3.49%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1%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Ahorro negociado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$26,178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NPS producción (transporte)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8.2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Por medir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4389120"/>
            <a:ext cx="5376672" cy="1783080"/>
          </a:xfrm>
          <a:prstGeom prst="rect">
            <a:avLst/>
          </a:prstGeom>
          <a:solidFill>
            <a:srgbClr val="2B2420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5720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CB254"/>
                </a:solidFill>
                <a:latin typeface="Montserrat"/>
              </a:rPr>
              <a:t>GASTO DE TRANSPORTACIÓN, AGOSTO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84632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4F4F2"/>
                </a:solidFill>
                <a:latin typeface="Montserrat"/>
              </a:rPr>
              <a:t>$746,288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54864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C9C4BF"/>
                </a:solidFill>
                <a:latin typeface="Montserrat"/>
              </a:rPr>
              <a:t>Solo proyectos cerrados al 31-ago. Julio: $1.61 M de operación y $547 K en combustible y peajes.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TRANSPORTE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F140F"/>
                </a:solidFill>
                <a:latin typeface="Montserrat"/>
              </a:rPr>
              <a:t>Transporte: lo que sigue abierto</a:t>
            </a:r>
          </a:p>
        </p:txBody>
      </p:sp>
      <p:pic>
        <p:nvPicPr>
          <p:cNvPr id="5" name="Picture 4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828477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1328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Reporte de Operaciones  ·  Agosto – Septiembre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440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63040"/>
            <a:ext cx="73152" cy="14630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2763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F140F"/>
                </a:solidFill>
                <a:latin typeface="Montserrat"/>
              </a:rPr>
              <a:t>Flota propia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6459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B3261E"/>
                </a:solidFill>
                <a:latin typeface="Montserrat"/>
              </a:rPr>
              <a:t>Riesgo alto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11680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B2420"/>
                </a:solidFill>
                <a:latin typeface="Montserrat"/>
              </a:rPr>
              <a:t>Suburban L84BSG parada más de 30 días; falta el duplicado de llave. Idealease Oriente cotizó renta de unidades (chofer aparte, ~$1,000–1,200).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63040"/>
            <a:ext cx="5440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63040"/>
            <a:ext cx="73152" cy="1463040"/>
          </a:xfrm>
          <a:prstGeom prst="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62763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F140F"/>
                </a:solidFill>
                <a:latin typeface="Montserrat"/>
              </a:rPr>
              <a:t>Ambulancias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5560" y="16459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B26A00"/>
                </a:solidFill>
                <a:latin typeface="Montserrat"/>
              </a:rPr>
              <a:t>Riesgo medio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11680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B2420"/>
                </a:solidFill>
                <a:latin typeface="Montserrat"/>
              </a:rPr>
              <a:t>El proveedor actual incumplió la cita de inspección; auditoría ~75%. Vital Care propuesto como alterno (unidades 2019 o más nuevas, sin vans convertidas).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63240"/>
            <a:ext cx="5440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063240"/>
            <a:ext cx="73152" cy="1463040"/>
          </a:xfrm>
          <a:prstGeom prst="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22783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F140F"/>
                </a:solidFill>
                <a:latin typeface="Montserrat"/>
              </a:rPr>
              <a:t>Machote de request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246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B26A00"/>
                </a:solidFill>
                <a:latin typeface="Montserrat"/>
              </a:rPr>
              <a:t>Riesgo medio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611880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B2420"/>
                </a:solidFill>
                <a:latin typeface="Montserrat"/>
              </a:rPr>
              <a:t>Ediciones manuales (filas, columnas) rompen fórmulas; hubo una diferencia de $2,000 en un cierre. Se pusieron candados y se trabaja una versión con macros.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3063240"/>
            <a:ext cx="5440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80" y="3063240"/>
            <a:ext cx="73152" cy="1463040"/>
          </a:xfrm>
          <a:prstGeom prst="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22783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F140F"/>
                </a:solidFill>
                <a:latin typeface="Montserrat"/>
              </a:rPr>
              <a:t>Intermediarios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5560" y="3246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B26A00"/>
                </a:solidFill>
                <a:latin typeface="Montserrat"/>
              </a:rPr>
              <a:t>Riesgo medio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11880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B2420"/>
                </a:solidFill>
                <a:latin typeface="Montserrat"/>
              </a:rPr>
              <a:t>Proveedores que subarriendan unidades ajenas y posible conflicto de interés con personal de producción. Se documentan casos para decidir.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663440"/>
            <a:ext cx="5440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663440"/>
            <a:ext cx="73152" cy="1463040"/>
          </a:xfrm>
          <a:prstGeom prst="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82803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F140F"/>
                </a:solidFill>
                <a:latin typeface="Montserrat"/>
              </a:rPr>
              <a:t>Incidencias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B26A00"/>
                </a:solidFill>
                <a:latin typeface="Montserrat"/>
              </a:rPr>
              <a:t>Riesgo medio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B2420"/>
                </a:solidFill>
                <a:latin typeface="Montserrat"/>
              </a:rPr>
              <a:t>Drivers que no llegan o cambian de proyecto por acuerdos directos con producción. Todo debe ir al scorecard semanal.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4663440"/>
            <a:ext cx="5440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80" y="4663440"/>
            <a:ext cx="73152" cy="1463040"/>
          </a:xfrm>
          <a:prstGeom prst="rect">
            <a:avLst/>
          </a:prstGeom>
          <a:solidFill>
            <a:srgbClr val="5F7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482803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F140F"/>
                </a:solidFill>
                <a:latin typeface="Montserrat"/>
              </a:rPr>
              <a:t>Daños y cierres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556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5F7A26"/>
                </a:solidFill>
                <a:latin typeface="Montserrat"/>
              </a:rPr>
              <a:t>Riesgo bajo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212080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B2420"/>
                </a:solidFill>
                <a:latin typeface="Montserrat"/>
              </a:rPr>
              <a:t>Daño en van de SquareSpace ($702) y diesel de una Sprinter no solicitada; combustibles y peajes de Museo Kaluz por cerrar.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BODEGA E INVENTARIOS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F140F"/>
                </a:solidFill>
                <a:latin typeface="Montserrat"/>
              </a:rPr>
              <a:t>Inventario confiable; los tiempos de bodega crecieron</a:t>
            </a:r>
          </a:p>
        </p:txBody>
      </p:sp>
      <p:pic>
        <p:nvPicPr>
          <p:cNvPr id="5" name="Picture 4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828477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1328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Reporte de Operaciones  ·  Agosto – Septiembre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F140F"/>
                </a:solidFill>
                <a:latin typeface="Montserrat"/>
              </a:rPr>
              <a:t>Confiabilidad de inventario (%)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6560"/>
                </a:solidFill>
                <a:latin typeface="Montserrat"/>
              </a:rPr>
              <a:t>Septiembre refleja conteos en curso (cierre el 21-sep)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85800" y="2148840"/>
          <a:ext cx="512064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417320"/>
          <a:ext cx="5468112" cy="314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271016"/>
                <a:gridCol w="1271016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4F4F2"/>
                          </a:solidFill>
                          <a:latin typeface="Montserrat"/>
                        </a:rPr>
                        <a:t>Operación semanal</a:t>
                      </a:r>
                    </a:p>
                  </a:txBody>
                  <a:tcPr marL="91440" marR="91440" marT="36576" marB="36576" anchor="ctr">
                    <a:solidFill>
                      <a:srgbClr val="2B24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4F4F2"/>
                          </a:solidFill>
                          <a:latin typeface="Montserrat"/>
                        </a:rPr>
                        <a:t>31-ago</a:t>
                      </a:r>
                    </a:p>
                  </a:txBody>
                  <a:tcPr marL="91440" marR="91440" marT="36576" marB="36576" anchor="ctr">
                    <a:solidFill>
                      <a:srgbClr val="2B24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4F4F2"/>
                          </a:solidFill>
                          <a:latin typeface="Montserrat"/>
                        </a:rPr>
                        <a:t>14-sep</a:t>
                      </a:r>
                    </a:p>
                  </a:txBody>
                  <a:tcPr marL="91440" marR="91440" marT="36576" marB="36576" anchor="ctr">
                    <a:solidFill>
                      <a:srgbClr val="2B2420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Artículos preparados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3,059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1,745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Tiempo de preparación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93 min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102 min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Tiempo de entrega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80 min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94 min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Tiempo de recepción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88 min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92 min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Artículos en mantenimiento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450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490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Rotación de expendables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38%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Daños del mes (septiembre)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4.15%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4846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F140F"/>
                </a:solidFill>
                <a:latin typeface="Montserrat"/>
              </a:rPr>
              <a:t>Lo que hicimos en bodega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57216"/>
            <a:ext cx="457200" cy="36576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30352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Pintura de bodega al 100%, racks cotizados y plagas cerrado (3-ago).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Cabinas nuevas instaladas; simulacro de sismo del 19-sep documentado.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846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F140F"/>
                </a:solidFill>
                <a:latin typeface="Montserrat"/>
              </a:rPr>
              <a:t>Por atender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5157216"/>
            <a:ext cx="457200" cy="36576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530352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Mantenimiento en 450–620 artículos por semana contra una meta de 1,000.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204 tote bags por localizar y 0 tarimas de reserva; depreciación de ~$225 K al 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COMPRAS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F140F"/>
                </a:solidFill>
                <a:latin typeface="Montserrat"/>
              </a:rPr>
              <a:t>Compras: negociar mejor y decidir renta contra compra</a:t>
            </a:r>
          </a:p>
        </p:txBody>
      </p:sp>
      <p:pic>
        <p:nvPicPr>
          <p:cNvPr id="5" name="Picture 4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828477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1328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Reporte de Operaciones  ·  Agosto – Septiembre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651760" cy="1417320"/>
          </a:xfrm>
          <a:prstGeom prst="rect">
            <a:avLst/>
          </a:prstGeom>
          <a:solidFill>
            <a:srgbClr val="2B2420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002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9CB254"/>
                </a:solidFill>
                <a:latin typeface="Montserrat"/>
              </a:rPr>
              <a:t>17%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402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4F4F2"/>
                </a:solidFill>
                <a:latin typeface="Montserrat"/>
              </a:rPr>
              <a:t>Ahorro en negociaciones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231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C9C4BF"/>
                </a:solidFill>
                <a:latin typeface="Montserrat"/>
              </a:rPr>
              <a:t>ROI de compras: 4.17%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65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8728" y="16002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140F"/>
                </a:solidFill>
                <a:latin typeface="Montserrat"/>
              </a:rPr>
              <a:t>90–92%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2402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B2420"/>
                </a:solidFill>
                <a:latin typeface="Montserrat"/>
              </a:rPr>
              <a:t>Evaluación proveedores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24231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6560"/>
                </a:solidFill>
                <a:latin typeface="Montserrat"/>
              </a:rPr>
              <a:t>Estable en el bimestre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71800"/>
            <a:ext cx="265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5468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140F"/>
                </a:solidFill>
                <a:latin typeface="Montserrat"/>
              </a:rPr>
              <a:t>80–84%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794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B2420"/>
                </a:solidFill>
                <a:latin typeface="Montserrat"/>
              </a:rPr>
              <a:t>Ejecución del gasto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9776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6560"/>
                </a:solidFill>
                <a:latin typeface="Montserrat"/>
              </a:rPr>
              <a:t>Mantenimiento vs. programa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2971800"/>
            <a:ext cx="265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8728" y="315468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140F"/>
                </a:solidFill>
                <a:latin typeface="Montserrat"/>
              </a:rPr>
              <a:t>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3794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B2420"/>
                </a:solidFill>
                <a:latin typeface="Montserrat"/>
              </a:rPr>
              <a:t>Skyrooms a migrar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38728" y="39776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6560"/>
                </a:solidFill>
                <a:latin typeface="Montserrat"/>
              </a:rPr>
              <a:t>Propuesta Telcel / Airlink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F140F"/>
                </a:solidFill>
                <a:latin typeface="Montserrat"/>
              </a:rPr>
              <a:t>Decisiones tomadas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928616"/>
            <a:ext cx="457200" cy="36576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074920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Subarrendos cerrado (19-ago):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se devolvió el equipo prestado; se reactiva solo en picos.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Contratos marco </a:t>
            </a:r>
            <a:r>
              <a:rPr sz="1200" b="0">
                <a:solidFill>
                  <a:srgbClr val="2B2420"/>
                </a:solidFill>
                <a:latin typeface="Montserrat"/>
              </a:rPr>
              <a:t>con proveedores de mayor volumen, sin compra mínima (plan TLO).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172200" y="1417320"/>
          <a:ext cx="5468112" cy="318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496312"/>
                <a:gridCol w="137160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4F4F2"/>
                          </a:solidFill>
                          <a:latin typeface="Montserrat"/>
                        </a:rPr>
                        <a:t>Análisis en curso</a:t>
                      </a:r>
                    </a:p>
                  </a:txBody>
                  <a:tcPr marL="91440" marR="91440" marT="36576" marB="36576" anchor="ctr">
                    <a:solidFill>
                      <a:srgbClr val="2B24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4F4F2"/>
                          </a:solidFill>
                          <a:latin typeface="Montserrat"/>
                        </a:rPr>
                        <a:t>Opciones</a:t>
                      </a:r>
                    </a:p>
                  </a:txBody>
                  <a:tcPr marL="91440" marR="91440" marT="36576" marB="36576" anchor="ctr">
                    <a:solidFill>
                      <a:srgbClr val="2B24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4F4F2"/>
                          </a:solidFill>
                          <a:latin typeface="Montserrat"/>
                        </a:rPr>
                        <a:t>Estado</a:t>
                      </a:r>
                    </a:p>
                  </a:txBody>
                  <a:tcPr marL="91440" marR="91440" marT="36576" marB="36576" anchor="ctr">
                    <a:solidFill>
                      <a:srgbClr val="2B242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B2420"/>
                          </a:solidFill>
                          <a:latin typeface="Montserrat"/>
                        </a:rPr>
                        <a:t>Montacargas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420"/>
                          </a:solidFill>
                          <a:latin typeface="Montserrat"/>
                        </a:rPr>
                        <a:t>Renta $6,000/mes o compra ~$405 K + IVA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420"/>
                          </a:solidFill>
                          <a:latin typeface="Montserrat"/>
                        </a:rPr>
                        <a:t>Tabla comparativa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B2420"/>
                          </a:solidFill>
                          <a:latin typeface="Montserrat"/>
                        </a:rPr>
                        <a:t>Batería Delta Pro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420"/>
                          </a:solidFill>
                          <a:latin typeface="Montserrat"/>
                        </a:rPr>
                        <a:t>$65 K nacional o ~$47 K importada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420"/>
                          </a:solidFill>
                          <a:latin typeface="Montserrat"/>
                        </a:rPr>
                        <a:t>Validar con Finanzas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B2420"/>
                          </a:solidFill>
                          <a:latin typeface="Montserrat"/>
                        </a:rPr>
                        <a:t>Carpas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420"/>
                          </a:solidFill>
                          <a:latin typeface="Montserrat"/>
                        </a:rPr>
                        <a:t>China: ~USD 1,000 c/u, mínimo 250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420"/>
                          </a:solidFill>
                          <a:latin typeface="Montserrat"/>
                        </a:rPr>
                        <a:t>Evaluar solo estructura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B2420"/>
                          </a:solidFill>
                          <a:latin typeface="Montserrat"/>
                        </a:rPr>
                        <a:t>Mejoras LA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420"/>
                          </a:solidFill>
                          <a:latin typeface="Montserrat"/>
                        </a:rPr>
                        <a:t>Iluminación modular, carritos, tarimas plásticas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420"/>
                          </a:solidFill>
                          <a:latin typeface="Montserrat"/>
                        </a:rPr>
                        <a:t>Cotizando pilotos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B2420"/>
                          </a:solidFill>
                          <a:latin typeface="Montserrat"/>
                        </a:rPr>
                        <a:t>Paliacates / playeras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420"/>
                          </a:solidFill>
                          <a:latin typeface="Montserrat"/>
                        </a:rPr>
                        <a:t>Pruebas con defectos de estampado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420"/>
                          </a:solidFill>
                          <a:latin typeface="Montserrat"/>
                        </a:rPr>
                        <a:t>Entrega 28–29 sep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6172200" y="4754880"/>
            <a:ext cx="5468112" cy="1463040"/>
          </a:xfrm>
          <a:prstGeom prst="rect">
            <a:avLst/>
          </a:prstGeom>
          <a:solidFill>
            <a:srgbClr val="EEF3E0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91947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F140F"/>
                </a:solidFill>
                <a:latin typeface="Montserrat"/>
              </a:rPr>
              <a:t>Rol de compras en revisión (22-sep)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578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420"/>
                </a:solidFill>
                <a:latin typeface="Montserrat"/>
              </a:rPr>
              <a:t>Nuevo job description enfocado en desarrollar proveedores, comparar precios, controlar costos por producción y analizar renta contra compra. Muchas decisiones dependen hoy de Producción y Comercial.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WELCOME BAGS Y HOSPITALIDAD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F140F"/>
                </a:solidFill>
                <a:latin typeface="Montserrat"/>
              </a:rPr>
              <a:t>Welcome Bags: la demanda se duplica hacia diciembre</a:t>
            </a:r>
          </a:p>
        </p:txBody>
      </p:sp>
      <p:pic>
        <p:nvPicPr>
          <p:cNvPr id="5" name="Picture 4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828477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1328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Reporte de Operaciones  ·  Agosto – Septiembre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6692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F140F"/>
                </a:solidFill>
                <a:latin typeface="Montserrat"/>
              </a:rPr>
              <a:t>Proyectos con welcome bags por 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6560"/>
                </a:solidFill>
                <a:latin typeface="Montserrat"/>
              </a:rPr>
              <a:t>Julio y agosto reales; septiembre a diciembre, pronóstico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85800" y="2148840"/>
          <a:ext cx="539496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92240" y="1417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F140F"/>
                </a:solidFill>
                <a:latin typeface="Montserrat"/>
              </a:rPr>
              <a:t>Lo que hicimos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728216"/>
            <a:ext cx="457200" cy="36576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1206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100% de entregas a tiempo en agosto.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Cotizamos nuevos artículos con más de 10 proveedores: playeras ($52–215), calcetas ($45–50), cargadores, café y stickers.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Se definió probar muestras antes de octubre y llevar 6 prototipos del kit 2027 a productores en octubre y noviembre.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97763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F140F"/>
                </a:solidFill>
                <a:latin typeface="Montserrat"/>
              </a:rPr>
              <a:t>Riesgos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4288535"/>
            <a:ext cx="457200" cy="36576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480560"/>
            <a:ext cx="51206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Jorge Austria nos debe $137,000 </a:t>
            </a:r>
            <a:r>
              <a:rPr sz="1200" b="0">
                <a:solidFill>
                  <a:srgbClr val="2B2420"/>
                </a:solidFill>
                <a:latin typeface="Montserrat"/>
              </a:rPr>
              <a:t>en producto; limita nuevos pedidos.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Sudaderas negras (las más vendidas) con stock bajo antes de temporada alta.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En septiembre no hay pedidos ni cierres de WB en correo: falta un registro diario.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6636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B2420"/>
                </a:solidFill>
                <a:latin typeface="Montserrat"/>
              </a:rPr>
              <a:t>Referencia: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11 a 15 welcome bags por proyecto. A 12–13 proyectos al mes, la temporada alta pide entre 130 y 195 kits mensuales.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CIERRES Y COBRANZA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F140F"/>
                </a:solidFill>
                <a:latin typeface="Montserrat"/>
              </a:rPr>
              <a:t>Cerramos rápido, pero el dinero no entra</a:t>
            </a:r>
          </a:p>
        </p:txBody>
      </p:sp>
      <p:pic>
        <p:nvPicPr>
          <p:cNvPr id="5" name="Picture 4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828477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1328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Reporte de Operaciones  ·  Agosto – Septiembre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4864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F140F"/>
                </a:solidFill>
                <a:latin typeface="Montserrat"/>
              </a:rPr>
              <a:t>Avance de los 5 proyectos en cierre (al 20-sep)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85800" y="1965960"/>
          <a:ext cx="521208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417320"/>
          <a:ext cx="537667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359359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4F4F2"/>
                          </a:solidFill>
                          <a:latin typeface="Montserrat"/>
                        </a:rPr>
                        <a:t>Proyecto</a:t>
                      </a:r>
                    </a:p>
                  </a:txBody>
                  <a:tcPr marL="91440" marR="91440" marT="36576" marB="36576" anchor="ctr">
                    <a:solidFill>
                      <a:srgbClr val="2B24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4F4F2"/>
                          </a:solidFill>
                          <a:latin typeface="Montserrat"/>
                        </a:rPr>
                        <a:t>Qué falta</a:t>
                      </a:r>
                    </a:p>
                  </a:txBody>
                  <a:tcPr marL="91440" marR="91440" marT="36576" marB="36576" anchor="ctr">
                    <a:solidFill>
                      <a:srgbClr val="2B242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B2420"/>
                          </a:solidFill>
                          <a:latin typeface="Montserrat"/>
                        </a:rPr>
                        <a:t>SquareSpace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420"/>
                          </a:solidFill>
                          <a:latin typeface="Montserrat"/>
                        </a:rPr>
                        <a:t>Cobro el 25-sep; PO del daño ($702) y diesel de Sprinter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B2420"/>
                          </a:solidFill>
                          <a:latin typeface="Montserrat"/>
                        </a:rPr>
                        <a:t>Museo Kaluz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420"/>
                          </a:solidFill>
                          <a:latin typeface="Montserrat"/>
                        </a:rPr>
                        <a:t>Combustibles, peajes y devolución de materiales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B2420"/>
                          </a:solidFill>
                          <a:latin typeface="Montserrat"/>
                        </a:rPr>
                        <a:t>Tom Kuntz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B3261E"/>
                          </a:solidFill>
                          <a:latin typeface="Montserrat"/>
                        </a:rPr>
                        <a:t>PO de The Lift Operations para facturar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B2420"/>
                          </a:solidFill>
                          <a:latin typeface="Montserrat"/>
                        </a:rPr>
                        <a:t>Verovision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B3261E"/>
                          </a:solidFill>
                          <a:latin typeface="Montserrat"/>
                        </a:rPr>
                        <a:t>PO de The Lift Operations; confirmar cierre de bodega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B2420"/>
                          </a:solidFill>
                          <a:latin typeface="Montserrat"/>
                        </a:rPr>
                        <a:t>Pati's Mexican Table 2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420"/>
                          </a:solidFill>
                          <a:latin typeface="Montserrat"/>
                        </a:rPr>
                        <a:t>Facturado el 18-sep; seguir el cobro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4617720"/>
            <a:ext cx="5376672" cy="1554480"/>
          </a:xfrm>
          <a:prstGeom prst="rect">
            <a:avLst/>
          </a:prstGeom>
          <a:solidFill>
            <a:srgbClr val="2B2420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7731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CB254"/>
                </a:solidFill>
                <a:latin typeface="Montserrat"/>
              </a:rPr>
              <a:t>POR QUÉ IMPORTA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5047488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4F4F2"/>
                </a:solidFill>
                <a:latin typeface="Montserrat"/>
              </a:rPr>
              <a:t>El contrato con TLO paga a 60 días y los proveedores cobran antes. Cada PO que se atrasa alarga el hueco de caja, ahora sin el fondeo de Delif.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4068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Viridiana (cuentas por cobrar de The Lift) regresa el 29-sep: es la fecha para destrabar las POs.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ADMINISTRACIÓN, CONTRATO TLO Y CUMPLIMIENTO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F140F"/>
                </a:solidFill>
                <a:latin typeface="Montserrat"/>
              </a:rPr>
              <a:t>El contrato TLO cambia cómo operamos</a:t>
            </a:r>
          </a:p>
        </p:txBody>
      </p:sp>
      <p:pic>
        <p:nvPicPr>
          <p:cNvPr id="5" name="Picture 4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828477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1328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Reporte de Operaciones  ·  Agosto – Septiembre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3657600" cy="4754880"/>
          </a:xfrm>
          <a:prstGeom prst="rect">
            <a:avLst/>
          </a:prstGeom>
          <a:solidFill>
            <a:srgbClr val="2B2420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CB254"/>
                </a:solidFill>
                <a:latin typeface="Montserrat"/>
              </a:rPr>
              <a:t>CONTRATO TLO UK – CINEMA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4F4F2"/>
                </a:solidFill>
                <a:latin typeface="Montserrat"/>
              </a:rPr>
              <a:t>Firmado el 31-ago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CB254"/>
                </a:solidFill>
                <a:latin typeface="Montserrat"/>
              </a:rPr>
              <a:t>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C9C4BF"/>
                </a:solidFill>
                <a:latin typeface="Montserrat"/>
              </a:rPr>
              <a:t>markup sobre costo (cost plus)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3756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CB254"/>
                </a:solidFill>
                <a:latin typeface="Montserrat"/>
              </a:rPr>
              <a:t>60 días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49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C9C4BF"/>
                </a:solidFill>
                <a:latin typeface="Montserrat"/>
              </a:rPr>
              <a:t>plazo de pago de TLO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062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CB254"/>
                </a:solidFill>
                <a:latin typeface="Montserrat"/>
              </a:rPr>
              <a:t>$1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177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C9C4BF"/>
                </a:solidFill>
                <a:latin typeface="Montserrat"/>
              </a:rPr>
              <a:t>cobertura mínima a terceros por unidad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0749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CB254"/>
                </a:solidFill>
                <a:latin typeface="Montserrat"/>
              </a:rPr>
              <a:t>7 años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48640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C9C4BF"/>
                </a:solidFill>
                <a:latin typeface="Montserrat"/>
              </a:rPr>
              <a:t>resguardo de documentos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141732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F140F"/>
                </a:solidFill>
                <a:latin typeface="Montserrat"/>
              </a:rPr>
              <a:t>Acuerdos del plan de acción (23-sep)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1728216"/>
            <a:ext cx="457200" cy="36576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1920240"/>
            <a:ext cx="71323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Canal único en Google Chat </a:t>
            </a:r>
            <a:r>
              <a:rPr sz="1200" b="0">
                <a:solidFill>
                  <a:srgbClr val="2B2420"/>
                </a:solidFill>
                <a:latin typeface="Montserrat"/>
              </a:rPr>
              <a:t>para toda solicitud de transporte; lo que llegue por otro lado se traslada en menos de 5 minutos.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"Master Request" pasa a "Órdenes de servicio" </a:t>
            </a:r>
            <a:r>
              <a:rPr sz="1200" b="0">
                <a:solidFill>
                  <a:srgbClr val="2B2420"/>
                </a:solidFill>
                <a:latin typeface="Montserrat"/>
              </a:rPr>
              <a:t>con semáforo (confirmado, tentativo, cancelado) e historial de cambios.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Dos expedientes: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por proyecto (cierres, incidencias) y por proveedor (pólizas, licencias, contratos).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Sin papelería completa no se contrata la unidad; </a:t>
            </a:r>
            <a:r>
              <a:rPr sz="1200" b="0">
                <a:solidFill>
                  <a:srgbClr val="2B2420"/>
                </a:solidFill>
                <a:latin typeface="Montserrat"/>
              </a:rPr>
              <a:t>choferes reciben solo datos mínimos; se evalúa NDA.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1">
                <a:solidFill>
                  <a:srgbClr val="2B2420"/>
                </a:solidFill>
                <a:latin typeface="Montserrat"/>
              </a:rPr>
              <a:t>Gastos extra </a:t>
            </a:r>
            <a:r>
              <a:rPr sz="1200" b="0">
                <a:solidFill>
                  <a:srgbClr val="2B2420"/>
                </a:solidFill>
                <a:latin typeface="Montserrat"/>
              </a:rPr>
              <a:t>(horas, peajes, rutas) solo con autorización previa por escrito de TLO.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297680"/>
            <a:ext cx="7159752" cy="1874519"/>
          </a:xfrm>
          <a:prstGeom prst="rect">
            <a:avLst/>
          </a:prstGeom>
          <a:solidFill>
            <a:srgbClr val="FBECEA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297680"/>
            <a:ext cx="73152" cy="1874519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60" y="443484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3261E"/>
                </a:solidFill>
                <a:latin typeface="Montserrat"/>
              </a:rPr>
              <a:t>Riesgo principal: GMR y REPSE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4800600"/>
            <a:ext cx="67665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B2420"/>
                </a:solidFill>
                <a:latin typeface="Montserrat"/>
              </a:rPr>
              <a:t>GMR factura como vigilancia (su REPSE) pero hace intendencia. Legal advierte multas, pérdida de deducciones y responsabilidad solidaria. Las horas extra llevan ~2 años sin esquema formal. Legal propone pedirlas por correo con 24 h de anticipación y negociar su costo; RH define el pago.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SISTEMAS Y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F140F"/>
                </a:solidFill>
                <a:latin typeface="Montserrat"/>
              </a:rPr>
              <a:t>De hojas sueltas a una sola fuente de verdad</a:t>
            </a:r>
          </a:p>
        </p:txBody>
      </p:sp>
      <p:pic>
        <p:nvPicPr>
          <p:cNvPr id="5" name="Picture 4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828477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1328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Reporte de Operaciones  ·  Agosto – Septiembre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3611880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63040"/>
            <a:ext cx="3611880" cy="73152"/>
          </a:xfrm>
          <a:prstGeom prst="rect">
            <a:avLst/>
          </a:prstGeom>
          <a:solidFill>
            <a:srgbClr val="5F7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37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F140F"/>
                </a:solidFill>
                <a:latin typeface="Montserrat"/>
              </a:rPr>
              <a:t>Ya funciona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320040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Tablero analítico de transportación: 90 requests y 72,924 filas consolidadas.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Saldos de combustible por tarjeta y proyecto, automatizados.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Reporte y tablero de operación para Dirección (desde 20-sep).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Carta final automática de proyecto (prueba con Intuit, 22-sep).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1463040"/>
            <a:ext cx="3611880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463040"/>
            <a:ext cx="3611880" cy="73152"/>
          </a:xfrm>
          <a:prstGeom prst="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79" y="1737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F140F"/>
                </a:solidFill>
                <a:latin typeface="Montserrat"/>
              </a:rPr>
              <a:t>En construcción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286000"/>
            <a:ext cx="320040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Órdenes de servicio que alimentan una base central sin doble captura.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Request v2 con macros y rangos protegidos.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ERP en Sheets v0.1 (maestros, operación) como puente.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Consolidación de compras, ventas y cuentas por cobrar y pagar.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8" y="1463040"/>
            <a:ext cx="3611880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18" y="1463040"/>
            <a:ext cx="3611880" cy="73152"/>
          </a:xfrm>
          <a:prstGeom prst="rect">
            <a:avLst/>
          </a:prstGeom>
          <a:solidFill>
            <a:srgbClr val="5F7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18" y="1737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F140F"/>
                </a:solidFill>
                <a:latin typeface="Montserrat"/>
              </a:rPr>
              <a:t>Por decidir: Odoo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8" y="2286000"/>
            <a:ext cx="320040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2 demos (15 y 21-sep): CRM, proyectos, rentas, inventario con series, compras, CFDI y depreciación.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15 usuarios, 75 h de implementación y 1 año de licencia: $135,859.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Con promoción hasta el 15-oct: ~$120,000.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Requiere un responsable interno y cargar clientes, proveedores y catálogo.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VOZ DEL CLIENTE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F140F"/>
                </a:solidFill>
                <a:latin typeface="Montserrat"/>
              </a:rPr>
              <a:t>NPS: clientes satisfechos, pero pocos promotores</a:t>
            </a:r>
          </a:p>
        </p:txBody>
      </p:sp>
      <p:pic>
        <p:nvPicPr>
          <p:cNvPr id="5" name="Picture 4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828477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1328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Reporte de Operaciones  ·  Agosto – Septiembre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6692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F140F"/>
                </a:solidFill>
                <a:latin typeface="Montserrat"/>
              </a:rPr>
              <a:t>Calificación promedio por área (0 a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6560"/>
                </a:solidFill>
                <a:latin typeface="Montserrat"/>
              </a:rPr>
              <a:t>Abril a julio 2026 · 37 respuestas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85800" y="2194560"/>
          <a:ext cx="539496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92240" y="1417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F140F"/>
                </a:solidFill>
                <a:latin typeface="Montserrat"/>
              </a:rPr>
              <a:t>Lectura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728216"/>
            <a:ext cx="457200" cy="36576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1206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No hay detractores, pero la mayoría califica 8 (neutro). En mayo solo 12.5% de promotores en transporte y WB.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Bodega es la mejor evaluada: 9.6 en julio.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Agosto cerró en 8.2 (transporte) y 8 (servicio). La encuesta casi no se envió en agosto y septiembre.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97763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F140F"/>
                </a:solidFill>
                <a:latin typeface="Montserrat"/>
              </a:rPr>
              <a:t>Lo que piden los clientes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4288535"/>
            <a:ext cx="457200" cy="36576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48056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Mejor limpieza y revisión del equipo antes de salir (mesas de bambú, enfriadores).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Cobros de daños claros: no cobrar material que sigue circulando.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700">
                <a:solidFill>
                  <a:srgbClr val="5F7A26"/>
                </a:solidFill>
                <a:latin typeface="Montserrat"/>
              </a:rPr>
              <a:t>■  </a:t>
            </a:r>
            <a:r>
              <a:rPr sz="1200" b="0">
                <a:solidFill>
                  <a:srgbClr val="2B2420"/>
                </a:solidFill>
                <a:latin typeface="Montserrat"/>
              </a:rPr>
              <a:t>Cargos de Skyroom transparentes.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0352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B2420"/>
                </a:solidFill>
                <a:latin typeface="Montserrat"/>
              </a:rPr>
              <a:t>Meta propuesta: </a:t>
            </a:r>
            <a:r>
              <a:rPr sz="1200" b="0">
                <a:solidFill>
                  <a:srgbClr val="2B2420"/>
                </a:solidFill>
                <a:latin typeface="Montserrat"/>
              </a:rPr>
              <a:t>encuesta obligatoria en cada cierre y 30% de promotores por área al cierre de diciembre.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ÁREAS DE MEJORA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F140F"/>
                </a:solidFill>
                <a:latin typeface="Montserrat"/>
              </a:rPr>
              <a:t>Qué podemos mejorar</a:t>
            </a:r>
          </a:p>
        </p:txBody>
      </p:sp>
      <p:pic>
        <p:nvPicPr>
          <p:cNvPr id="5" name="Picture 4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828477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1328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Reporte de Operaciones  ·  Agosto – Septiembre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91672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572000"/>
                <a:gridCol w="496519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4F4F2"/>
                          </a:solidFill>
                          <a:latin typeface="Montserrat"/>
                        </a:rPr>
                        <a:t>Área</a:t>
                      </a:r>
                    </a:p>
                  </a:txBody>
                  <a:tcPr marL="91440" marR="91440" marT="36576" marB="36576" anchor="ctr">
                    <a:solidFill>
                      <a:srgbClr val="2B24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4F4F2"/>
                          </a:solidFill>
                          <a:latin typeface="Montserrat"/>
                        </a:rPr>
                        <a:t>Lo que vemos</a:t>
                      </a:r>
                    </a:p>
                  </a:txBody>
                  <a:tcPr marL="91440" marR="91440" marT="36576" marB="36576" anchor="ctr">
                    <a:solidFill>
                      <a:srgbClr val="2B24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4F4F2"/>
                          </a:solidFill>
                          <a:latin typeface="Montserrat"/>
                        </a:rPr>
                        <a:t>Propuesta</a:t>
                      </a:r>
                    </a:p>
                  </a:txBody>
                  <a:tcPr marL="91440" marR="91440" marT="36576" marB="36576" anchor="ctr">
                    <a:solidFill>
                      <a:srgbClr val="2B242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Transporte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Solicitudes por WhatsApp y acuerdos directos con drivers; papelería global en 67%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Canal único, órdenes de servicio y 100% de papelería en proveedores de alta frecuencia a octubre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Bodega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Tiempos de preparación y entrega al alza; mantenimiento a la mitad de la meta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Estándar de tiempo por pedido, cobro por material sucio o dañado y apoyo temporal en temporada alta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Inventario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Confiabilidad bajó a 95% en conteos de septiembre; faltan 204 tote bags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Conteos cíclicos semanales por zona y capacitación en expendables y filtros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Compras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Negociaciones fuera de compras y sin registro; rol poco accionable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Nuevo JD con indicadores, contratos marco y tabulador único con Producción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Welcome Bags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Sin registro diario de kits entregados; deuda de proveedor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Bitácora de entregas por proyecto y recuperar los $137 K antes de reabastecer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Cobranza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Cierres a tiempo pero POs y facturas atrasadas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Semáforo semanal de cierre → PO → factura → cobro, revisado con Finanzas</a:t>
                      </a:r>
                    </a:p>
                  </a:txBody>
                  <a:tcPr marL="91440" marR="91440" marT="36576" marB="36576" anchor="ctr">
                    <a:solidFill>
                      <a:srgbClr val="F8F8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420"/>
                          </a:solidFill>
                          <a:latin typeface="Montserrat"/>
                        </a:rPr>
                        <a:t>Datos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Información repartida en muchas hojas, correos y chats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420"/>
                          </a:solidFill>
                          <a:latin typeface="Montserrat"/>
                        </a:rPr>
                        <a:t>Una sola base (Odoo o ERP interno) y reporte semanal automático a Dirección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PRÓXIMOS 90 DÍAS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F140F"/>
                </a:solidFill>
                <a:latin typeface="Montserrat"/>
              </a:rPr>
              <a:t>Lo que viene: octubre a diciembre es temporada alta</a:t>
            </a:r>
          </a:p>
        </p:txBody>
      </p:sp>
      <p:pic>
        <p:nvPicPr>
          <p:cNvPr id="5" name="Picture 4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828477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1328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Reporte de Operaciones  ·  Agosto – Septiembre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3611880" cy="4709160"/>
          </a:xfrm>
          <a:prstGeom prst="rect">
            <a:avLst/>
          </a:prstGeom>
          <a:solidFill>
            <a:srgbClr val="2B2420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9CB254"/>
                </a:solidFill>
                <a:latin typeface="Montserrat"/>
              </a:rPr>
              <a:t>Próximos días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CB254"/>
                </a:solidFill>
                <a:latin typeface="Montserrat"/>
              </a:rPr>
              <a:t>25-sep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603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4F4F2"/>
                </a:solidFill>
                <a:latin typeface="Montserrat"/>
              </a:rPr>
              <a:t>Operaciones Recap; cobro SquareSpace; materiales de Ciclope (25–26)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461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CB254"/>
                </a:solidFill>
                <a:latin typeface="Montserrat"/>
              </a:rPr>
              <a:t>28–29 sep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204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4F4F2"/>
                </a:solidFill>
                <a:latin typeface="Montserrat"/>
              </a:rPr>
              <a:t>Entrega de paliacates y playeras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CB254"/>
                </a:solidFill>
                <a:latin typeface="Montserrat"/>
              </a:rPr>
              <a:t>29-sep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8056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4F4F2"/>
                </a:solidFill>
                <a:latin typeface="Montserrat"/>
              </a:rPr>
              <a:t>Regresa Viridiana: POs de TLO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663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CB254"/>
                </a:solidFill>
                <a:latin typeface="Montserrat"/>
              </a:rPr>
              <a:t>30-sep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4406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4F4F2"/>
                </a:solidFill>
                <a:latin typeface="Montserrat"/>
              </a:rPr>
              <a:t>Lanzamiento del podcast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1463040"/>
            <a:ext cx="3611880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79" y="16916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F140F"/>
                </a:solidFill>
                <a:latin typeface="Montserrat"/>
              </a:rPr>
              <a:t>Octubre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79" y="22860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15-oct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79" y="25603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Vence la promoción de Odoo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79" y="32461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Oct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35204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12 proyectos con WB estimados; fee de transfers en el primer award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79" y="4206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Oct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48056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Órdenes de servicio, expedientes y canal único operando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79" y="51663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Oct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79" y="54406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Decisión de montacargas, flota e Idealease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18" y="1463040"/>
            <a:ext cx="3611880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18" y="16916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F140F"/>
                </a:solidFill>
                <a:latin typeface="Montserrat"/>
              </a:rPr>
              <a:t>Noviembre – Diciembre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18" y="22860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Nov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8" y="25603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Prototipos del kit WB 2027 a productores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8" y="32461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Nov–Dic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18" y="35204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12–13 proyectos al mes; 13 producciones con tarjetas de combustible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18" y="4206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Nov–Dic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8" y="448056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Transición de facturación con IVA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8" y="51663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Dic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18" y="54406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420"/>
                </a:solidFill>
                <a:latin typeface="Montserrat"/>
              </a:rPr>
              <a:t>Cierre fiscal 2026 y presupuesto 2027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F7A26"/>
                </a:solidFill>
                <a:latin typeface="Montserrat"/>
              </a:rPr>
              <a:t>PARA DECIDIR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F140F"/>
                </a:solidFill>
                <a:latin typeface="Montserrat"/>
              </a:rPr>
              <a:t>Decisiones que necesitamos de ti, Tania</a:t>
            </a:r>
          </a:p>
        </p:txBody>
      </p:sp>
      <p:pic>
        <p:nvPicPr>
          <p:cNvPr id="5" name="Picture 4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828477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1328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Reporte de Operaciones  ·  Agosto – Septiembre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6560"/>
                </a:solidFill>
                <a:latin typeface="Montserrat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4406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645920"/>
            <a:ext cx="566928" cy="56692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F140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55448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F140F"/>
                </a:solidFill>
                <a:latin typeface="Montserrat"/>
              </a:rPr>
              <a:t>POs de TLO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874520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B2420"/>
                </a:solidFill>
                <a:latin typeface="Montserrat"/>
              </a:rPr>
              <a:t>Pedir a The Lift Operations las POs de Tom Kuntz y Verovision para poder facturar.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17320"/>
            <a:ext cx="54406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0" y="1645920"/>
            <a:ext cx="566928" cy="56692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645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F140F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155448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F140F"/>
                </a:solidFill>
                <a:latin typeface="Montserrat"/>
              </a:rPr>
              <a:t>GMR y horas extra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874520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B2420"/>
                </a:solidFill>
                <a:latin typeface="Montserrat"/>
              </a:rPr>
              <a:t>Definir el esquema de pago y la estrategia REPSE: regularizar a GMR o contratar al personal.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606040"/>
            <a:ext cx="54406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F140F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274320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F140F"/>
                </a:solidFill>
                <a:latin typeface="Montserrat"/>
              </a:rPr>
              <a:t>Goteras en bodega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063240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B2420"/>
                </a:solidFill>
                <a:latin typeface="Montserrat"/>
              </a:rPr>
              <a:t>Asignar responsable y fecha de solución; llevan más de 3 meses y dañan inventario.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2606040"/>
            <a:ext cx="54406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09360" y="2834640"/>
            <a:ext cx="566928" cy="56692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8346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F140F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274320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F140F"/>
                </a:solidFill>
                <a:latin typeface="Montserrat"/>
              </a:rPr>
              <a:t>Flota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063240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B2420"/>
                </a:solidFill>
                <a:latin typeface="Montserrat"/>
              </a:rPr>
              <a:t>Rentar con Idealease Oriente o no, y qué hacer con la Suburban L84BSG.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794760"/>
            <a:ext cx="54406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31520" y="4023360"/>
            <a:ext cx="566928" cy="56692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02336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F140F"/>
                </a:solidFill>
                <a:latin typeface="Montserrat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393192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F140F"/>
                </a:solidFill>
                <a:latin typeface="Montserrat"/>
              </a:rPr>
              <a:t>Ambulancias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4251960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B2420"/>
                </a:solidFill>
                <a:latin typeface="Montserrat"/>
              </a:rPr>
              <a:t>Aprobar a Vital Care como proveedor alterno.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3794760"/>
            <a:ext cx="54406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09360" y="4023360"/>
            <a:ext cx="566928" cy="56692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402336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F140F"/>
                </a:solidFill>
                <a:latin typeface="Montserrat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93192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F140F"/>
                </a:solidFill>
                <a:latin typeface="Montserrat"/>
              </a:rPr>
              <a:t>Odoo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4251960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B2420"/>
                </a:solidFill>
                <a:latin typeface="Montserrat"/>
              </a:rPr>
              <a:t>Aprobar la inversión (~$120–136 K) antes del 15-oct y nombrar al responsable interno.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983480"/>
            <a:ext cx="54406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5212080"/>
            <a:ext cx="566928" cy="56692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21208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F140F"/>
                </a:solidFill>
                <a:latin typeface="Montserrat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08760" y="512064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F140F"/>
                </a:solidFill>
                <a:latin typeface="Montserrat"/>
              </a:rPr>
              <a:t>Rol de compras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440680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B2420"/>
                </a:solidFill>
                <a:latin typeface="Montserrat"/>
              </a:rPr>
              <a:t>Validar el nuevo JD del coordinador de compras y su nivel de autoridad.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26480" y="4983480"/>
            <a:ext cx="54406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09360" y="5212080"/>
            <a:ext cx="566928" cy="566928"/>
          </a:xfrm>
          <a:prstGeom prst="ellipse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521208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F140F"/>
                </a:solidFill>
                <a:latin typeface="Montserrat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6600" y="512064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F140F"/>
                </a:solidFill>
                <a:latin typeface="Montserrat"/>
              </a:rPr>
              <a:t>Deuda de Jorge Austria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5440680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B2420"/>
                </a:solidFill>
                <a:latin typeface="Montserrat"/>
              </a:rPr>
              <a:t>Estrategia para recuperar $137 K antes de reabastecer welcome bags.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85800"/>
            <a:ext cx="2186259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0116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9CB254"/>
                </a:solidFill>
                <a:latin typeface="Montserrat"/>
              </a:rPr>
              <a:t>En una frase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4F4F2"/>
                </a:solidFill>
                <a:latin typeface="Montserrat"/>
              </a:rPr>
              <a:t>Agosto y septiembre ordenaron la operación. Octubre a diciembre ponen a prueba ese orden: necesitamos cobrar a tiempo, cerrar los riesgos legales y tener un solo sistema.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846320"/>
            <a:ext cx="822960" cy="45720"/>
          </a:xfrm>
          <a:prstGeom prst="rect">
            <a:avLst/>
          </a:prstGeom>
          <a:solidFill>
            <a:srgbClr val="9CB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F4F4F2"/>
                </a:solidFill>
                <a:latin typeface="Montserrat"/>
              </a:rPr>
              <a:t>Gerardo Herrera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A8A29C"/>
                </a:solidFill>
                <a:latin typeface="Montserrat"/>
              </a:rPr>
              <a:t>Gerente de Operaciones  ·  gerardo.herrera@cinemashuttle.mx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